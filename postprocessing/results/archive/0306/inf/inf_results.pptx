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image4.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45"/>
    <p:restoredTop sz="96208"/>
  </p:normalViewPr>
  <p:slideViewPr>
    <p:cSldViewPr snapToGrid="0">
      <p:cViewPr varScale="1">
        <p:scale>
          <a:sx n="119" d="100"/>
          <a:sy n="119" d="100"/>
        </p:scale>
        <p:origin x="216"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hyperlink" Target="https://thesource.nrel.gov/publishing/disclaimers.html"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 Simple">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4982633" y="1669356"/>
            <a:ext cx="5762859" cy="1797768"/>
          </a:xfrm>
        </p:spPr>
        <p:txBody>
          <a:bodyPr anchor="b" anchorCtr="0">
            <a:noAutofit/>
          </a:bodyPr>
          <a:lstStyle>
            <a:lvl1pPr marL="0" indent="0">
              <a:buNone/>
              <a:defRPr sz="4000"/>
            </a:lvl1pPr>
          </a:lstStyle>
          <a:p>
            <a:pPr lvl="0"/>
            <a:r>
              <a:rPr lang="en-US"/>
              <a:t>Title</a:t>
            </a:r>
          </a:p>
        </p:txBody>
      </p:sp>
      <p:cxnSp>
        <p:nvCxnSpPr>
          <p:cNvPr id="10" name="Straight Connector 9"/>
          <p:cNvCxnSpPr/>
          <p:nvPr/>
        </p:nvCxnSpPr>
        <p:spPr>
          <a:xfrm>
            <a:off x="5119809" y="3707711"/>
            <a:ext cx="5625684"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15" name="Text Placeholder 14"/>
          <p:cNvSpPr>
            <a:spLocks noGrp="1"/>
          </p:cNvSpPr>
          <p:nvPr>
            <p:ph type="body" sz="quarter" idx="11" hasCustomPrompt="1"/>
          </p:nvPr>
        </p:nvSpPr>
        <p:spPr>
          <a:xfrm>
            <a:off x="4982634" y="3948645"/>
            <a:ext cx="5763684"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a:p>
            <a:pPr lvl="0"/>
            <a:r>
              <a:rPr lang="en-US" dirty="0"/>
              <a:t>Venue or Organization</a:t>
            </a:r>
          </a:p>
          <a:p>
            <a:pPr lvl="0"/>
            <a:r>
              <a:rPr lang="en-US" dirty="0"/>
              <a:t>Date</a:t>
            </a:r>
          </a:p>
        </p:txBody>
      </p:sp>
      <p:pic>
        <p:nvPicPr>
          <p:cNvPr id="7" name="Graphic 6">
            <a:extLst>
              <a:ext uri="{FF2B5EF4-FFF2-40B4-BE49-F238E27FC236}">
                <a16:creationId xmlns:a16="http://schemas.microsoft.com/office/drawing/2014/main" id="{63528C9F-D43C-8E4B-8E26-1B7ED4C7506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3272" y="1"/>
            <a:ext cx="3109189" cy="1456409"/>
          </a:xfrm>
          <a:prstGeom prst="rect">
            <a:avLst/>
          </a:prstGeom>
        </p:spPr>
      </p:pic>
    </p:spTree>
    <p:extLst>
      <p:ext uri="{BB962C8B-B14F-4D97-AF65-F5344CB8AC3E}">
        <p14:creationId xmlns:p14="http://schemas.microsoft.com/office/powerpoint/2010/main" val="2230101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imple Slide -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Simple Slide</a:t>
            </a:r>
          </a:p>
        </p:txBody>
      </p:sp>
      <p:sp>
        <p:nvSpPr>
          <p:cNvPr id="9" name="Text Placeholder 8"/>
          <p:cNvSpPr>
            <a:spLocks noGrp="1"/>
          </p:cNvSpPr>
          <p:nvPr>
            <p:ph type="body" sz="quarter" idx="10"/>
          </p:nvPr>
        </p:nvSpPr>
        <p:spPr>
          <a:xfrm>
            <a:off x="609601" y="1828801"/>
            <a:ext cx="10826751" cy="45000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Box 9"/>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1118740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imple Slide - Tex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599" y="1"/>
            <a:ext cx="7915124" cy="1209524"/>
          </a:xfrm>
        </p:spPr>
        <p:txBody>
          <a:bodyPr/>
          <a:lstStyle/>
          <a:p>
            <a:r>
              <a:rPr lang="en-US"/>
              <a:t>Simple Slide</a:t>
            </a:r>
          </a:p>
        </p:txBody>
      </p:sp>
      <p:sp>
        <p:nvSpPr>
          <p:cNvPr id="9" name="Text Placeholder 8"/>
          <p:cNvSpPr>
            <a:spLocks noGrp="1"/>
          </p:cNvSpPr>
          <p:nvPr>
            <p:ph type="body" sz="quarter" idx="10"/>
          </p:nvPr>
        </p:nvSpPr>
        <p:spPr>
          <a:xfrm>
            <a:off x="609601" y="1499810"/>
            <a:ext cx="10826751" cy="48290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257351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imple Slide - Any Content">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609599" y="1"/>
            <a:ext cx="10982476" cy="568959"/>
          </a:xfrm>
        </p:spPr>
        <p:txBody>
          <a:bodyPr/>
          <a:lstStyle/>
          <a:p>
            <a:r>
              <a:rPr lang="en-US"/>
              <a:t>Simple Slide</a:t>
            </a:r>
          </a:p>
        </p:txBody>
      </p:sp>
      <p:sp>
        <p:nvSpPr>
          <p:cNvPr id="5" name="TextBox 4"/>
          <p:cNvSpPr txBox="1"/>
          <p:nvPr/>
        </p:nvSpPr>
        <p:spPr>
          <a:xfrm>
            <a:off x="11592074" y="0"/>
            <a:ext cx="599925" cy="307777"/>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fld id="{BFD71CF8-5198-8441-A7C0-DC22FD64CBE4}" type="slidenum">
              <a:rPr lang="en-US" sz="1400" smtClean="0"/>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400" dirty="0"/>
          </a:p>
        </p:txBody>
      </p:sp>
    </p:spTree>
    <p:extLst>
      <p:ext uri="{BB962C8B-B14F-4D97-AF65-F5344CB8AC3E}">
        <p14:creationId xmlns:p14="http://schemas.microsoft.com/office/powerpoint/2010/main" val="37878119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9" name="Text Placeholder 8"/>
          <p:cNvSpPr>
            <a:spLocks noGrp="1"/>
          </p:cNvSpPr>
          <p:nvPr>
            <p:ph type="body" sz="quarter" idx="10" hasCustomPrompt="1"/>
          </p:nvPr>
        </p:nvSpPr>
        <p:spPr>
          <a:xfrm>
            <a:off x="609601" y="2864762"/>
            <a:ext cx="10826751" cy="715429"/>
          </a:xfrm>
        </p:spPr>
        <p:txBody>
          <a:bodyPr/>
          <a:lstStyle>
            <a:lvl1pPr marL="0" indent="0" algn="ctr">
              <a:buNone/>
              <a:defRPr baseline="0"/>
            </a:lvl1pPr>
          </a:lstStyle>
          <a:p>
            <a:pPr lvl="0"/>
            <a:r>
              <a:rPr lang="en-US"/>
              <a:t>Blank Slide for Any Content</a:t>
            </a:r>
          </a:p>
        </p:txBody>
      </p:sp>
      <p:sp>
        <p:nvSpPr>
          <p:cNvPr id="4" name="TextBox 3"/>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3963176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ransition Slide - Whit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lvl1pPr>
          </a:lstStyle>
          <a:p>
            <a:pPr lvl="0"/>
            <a:r>
              <a:rPr lang="en-US"/>
              <a:t>Transition Slide Title</a:t>
            </a:r>
          </a:p>
        </p:txBody>
      </p:sp>
      <p:cxnSp>
        <p:nvCxnSpPr>
          <p:cNvPr id="4" name="Straight Connector 3"/>
          <p:cNvCxnSpPr/>
          <p:nvPr/>
        </p:nvCxnSpPr>
        <p:spPr>
          <a:xfrm>
            <a:off x="760447" y="3707711"/>
            <a:ext cx="6099972" cy="0"/>
          </a:xfrm>
          <a:prstGeom prst="line">
            <a:avLst/>
          </a:prstGeom>
          <a:ln w="28575"/>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3542221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ransition Slide - Blue">
    <p:spTree>
      <p:nvGrpSpPr>
        <p:cNvPr id="1" name=""/>
        <p:cNvGrpSpPr/>
        <p:nvPr/>
      </p:nvGrpSpPr>
      <p:grpSpPr>
        <a:xfrm>
          <a:off x="0" y="0"/>
          <a:ext cx="0" cy="0"/>
          <a:chOff x="0" y="0"/>
          <a:chExt cx="0" cy="0"/>
        </a:xfrm>
      </p:grpSpPr>
      <p:sp>
        <p:nvSpPr>
          <p:cNvPr id="6" name="Rectangle 5"/>
          <p:cNvSpPr/>
          <p:nvPr/>
        </p:nvSpPr>
        <p:spPr>
          <a:xfrm>
            <a:off x="0" y="0"/>
            <a:ext cx="1219200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667"/>
          </a:p>
        </p:txBody>
      </p:sp>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solidFill>
                  <a:srgbClr val="FFFFFF"/>
                </a:solidFill>
              </a:defRPr>
            </a:lvl1pPr>
          </a:lstStyle>
          <a:p>
            <a:pPr lvl="0"/>
            <a:r>
              <a:rPr lang="en-US"/>
              <a:t>Transition Slide Title</a:t>
            </a:r>
          </a:p>
        </p:txBody>
      </p:sp>
      <p:cxnSp>
        <p:nvCxnSpPr>
          <p:cNvPr id="4" name="Straight Connector 3"/>
          <p:cNvCxnSpPr/>
          <p:nvPr/>
        </p:nvCxnSpPr>
        <p:spPr>
          <a:xfrm>
            <a:off x="760447" y="3707711"/>
            <a:ext cx="6099972" cy="0"/>
          </a:xfrm>
          <a:prstGeom prst="line">
            <a:avLst/>
          </a:prstGeom>
          <a:ln w="2857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solidFill>
                  <a:srgbClr val="FFFFFF"/>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2820793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667"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Tree>
    <p:extLst>
      <p:ext uri="{BB962C8B-B14F-4D97-AF65-F5344CB8AC3E}">
        <p14:creationId xmlns:p14="http://schemas.microsoft.com/office/powerpoint/2010/main" val="1900022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667"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
        <p:nvSpPr>
          <p:cNvPr id="7" name="TextBox 6">
            <a:extLst>
              <a:ext uri="{FF2B5EF4-FFF2-40B4-BE49-F238E27FC236}">
                <a16:creationId xmlns:a16="http://schemas.microsoft.com/office/drawing/2014/main" id="{4D25D62E-9C80-6549-866A-CF8A873BF3DE}"/>
              </a:ext>
            </a:extLst>
          </p:cNvPr>
          <p:cNvSpPr txBox="1"/>
          <p:nvPr/>
        </p:nvSpPr>
        <p:spPr>
          <a:xfrm>
            <a:off x="143727" y="5113983"/>
            <a:ext cx="7440927" cy="1938992"/>
          </a:xfrm>
          <a:prstGeom prst="rect">
            <a:avLst/>
          </a:prstGeom>
          <a:noFill/>
        </p:spPr>
        <p:txBody>
          <a:bodyPr wrap="square" rtlCol="0">
            <a:spAutoFit/>
          </a:bodyPr>
          <a:lstStyle/>
          <a:p>
            <a:r>
              <a:rPr lang="en-US" sz="1200" dirty="0"/>
              <a:t>This work was authored </a:t>
            </a:r>
            <a:r>
              <a:rPr lang="en-US" sz="1200" dirty="0">
                <a:solidFill>
                  <a:srgbClr val="FF0000"/>
                </a:solidFill>
              </a:rPr>
              <a:t>[in part]</a:t>
            </a:r>
            <a:r>
              <a:rPr lang="en-US" sz="1200" dirty="0"/>
              <a:t> by the National Renewable Energy Laboratory, operated by Alliance for Sustainable Energy, LLC, for the U.S. Department of Energy (DOE) under Contract No. DE-AC36-08GO28308. Funding provided by </a:t>
            </a:r>
            <a:r>
              <a:rPr lang="en-US" sz="1200" dirty="0">
                <a:solidFill>
                  <a:srgbClr val="FF0000"/>
                </a:solidFill>
              </a:rPr>
              <a:t>[applicable Department of Energy office and program office, e.g., U.S. Department of Energy Office of Energy Efficiency and Renewable Energy Solar Energy Technologies Office (spell out full office names; do not use initialisms/acronyms)]</a:t>
            </a:r>
            <a:r>
              <a:rPr lang="en-US" sz="1200" dirty="0"/>
              <a:t>. The views expressed in the article do not necessarily represent the views of the DOE or the U.S. Government. The U.S. Government retains and the publisher, by accepting the article for publication, acknowledges that the U.S. Government retains a nonexclusive, paid-up, irrevocable, worldwide license to publish or reproduce the published form of this work, or allow others to do so, for U.S. Government purposes.</a:t>
            </a:r>
            <a:endParaRPr lang="en-US" sz="1200" dirty="0">
              <a:solidFill>
                <a:schemeClr val="tx1"/>
              </a:solidFill>
            </a:endParaRPr>
          </a:p>
        </p:txBody>
      </p:sp>
      <p:grpSp>
        <p:nvGrpSpPr>
          <p:cNvPr id="8" name="Group 7">
            <a:extLst>
              <a:ext uri="{FF2B5EF4-FFF2-40B4-BE49-F238E27FC236}">
                <a16:creationId xmlns:a16="http://schemas.microsoft.com/office/drawing/2014/main" id="{EF1042E9-C103-A54C-BB93-07B4BA47A9A6}"/>
              </a:ext>
            </a:extLst>
          </p:cNvPr>
          <p:cNvGrpSpPr/>
          <p:nvPr/>
        </p:nvGrpSpPr>
        <p:grpSpPr>
          <a:xfrm>
            <a:off x="1547053" y="3897792"/>
            <a:ext cx="1601320" cy="1290884"/>
            <a:chOff x="2576623" y="33912667"/>
            <a:chExt cx="2971800" cy="2395679"/>
          </a:xfrm>
        </p:grpSpPr>
        <p:sp>
          <p:nvSpPr>
            <p:cNvPr id="10" name="Rounded Rectangular Callout 9">
              <a:extLst>
                <a:ext uri="{FF2B5EF4-FFF2-40B4-BE49-F238E27FC236}">
                  <a16:creationId xmlns:a16="http://schemas.microsoft.com/office/drawing/2014/main" id="{E992B2AE-3F65-9F4A-9CF6-9647603DC89A}"/>
                </a:ext>
              </a:extLst>
            </p:cNvPr>
            <p:cNvSpPr/>
            <p:nvPr/>
          </p:nvSpPr>
          <p:spPr bwMode="auto">
            <a:xfrm>
              <a:off x="2576623" y="33912667"/>
              <a:ext cx="2971800" cy="2206133"/>
            </a:xfrm>
            <a:prstGeom prst="wedgeRoundRectCallout">
              <a:avLst/>
            </a:prstGeom>
            <a:solidFill>
              <a:schemeClr val="bg1"/>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1" name="TextBox 10">
              <a:extLst>
                <a:ext uri="{FF2B5EF4-FFF2-40B4-BE49-F238E27FC236}">
                  <a16:creationId xmlns:a16="http://schemas.microsoft.com/office/drawing/2014/main" id="{50095912-C565-554A-B23A-0162EEF02886}"/>
                </a:ext>
              </a:extLst>
            </p:cNvPr>
            <p:cNvSpPr txBox="1"/>
            <p:nvPr/>
          </p:nvSpPr>
          <p:spPr>
            <a:xfrm>
              <a:off x="2662703" y="34195674"/>
              <a:ext cx="2885720" cy="2112672"/>
            </a:xfrm>
            <a:prstGeom prst="rect">
              <a:avLst/>
            </a:prstGeom>
            <a:noFill/>
          </p:spPr>
          <p:txBody>
            <a:bodyPr wrap="square" rtlCol="0">
              <a:spAutoFit/>
            </a:bodyPr>
            <a:lstStyle/>
            <a:p>
              <a:r>
                <a:rPr lang="en-US" sz="1333" dirty="0">
                  <a:solidFill>
                    <a:srgbClr val="FF0000"/>
                  </a:solidFill>
                </a:rPr>
                <a:t>Insert the words “in part” if this work includes </a:t>
              </a:r>
              <a:br>
                <a:rPr lang="en-US" sz="1333" dirty="0">
                  <a:solidFill>
                    <a:srgbClr val="FF0000"/>
                  </a:solidFill>
                </a:rPr>
              </a:br>
              <a:r>
                <a:rPr lang="en-US" sz="1333" dirty="0">
                  <a:solidFill>
                    <a:srgbClr val="FF0000"/>
                  </a:solidFill>
                </a:rPr>
                <a:t>non-NREL authors.</a:t>
              </a:r>
            </a:p>
            <a:p>
              <a:pPr algn="l"/>
              <a:r>
                <a:rPr lang="en-US" sz="133" dirty="0">
                  <a:solidFill>
                    <a:srgbClr val="FF0000"/>
                  </a:solidFill>
                </a:rPr>
                <a:t>.</a:t>
              </a:r>
            </a:p>
          </p:txBody>
        </p:sp>
      </p:grpSp>
      <p:grpSp>
        <p:nvGrpSpPr>
          <p:cNvPr id="12" name="Group 11">
            <a:extLst>
              <a:ext uri="{FF2B5EF4-FFF2-40B4-BE49-F238E27FC236}">
                <a16:creationId xmlns:a16="http://schemas.microsoft.com/office/drawing/2014/main" id="{459BF0D5-6437-5C45-BCE8-E796DD25A9F5}"/>
              </a:ext>
            </a:extLst>
          </p:cNvPr>
          <p:cNvGrpSpPr/>
          <p:nvPr/>
        </p:nvGrpSpPr>
        <p:grpSpPr>
          <a:xfrm>
            <a:off x="4551699" y="3781040"/>
            <a:ext cx="3088339" cy="1658968"/>
            <a:chOff x="-183051" y="33227554"/>
            <a:chExt cx="5731474" cy="3110229"/>
          </a:xfrm>
          <a:solidFill>
            <a:schemeClr val="bg1">
              <a:alpha val="38000"/>
            </a:schemeClr>
          </a:solidFill>
        </p:grpSpPr>
        <p:sp>
          <p:nvSpPr>
            <p:cNvPr id="13" name="Rounded Rectangular Callout 12">
              <a:extLst>
                <a:ext uri="{FF2B5EF4-FFF2-40B4-BE49-F238E27FC236}">
                  <a16:creationId xmlns:a16="http://schemas.microsoft.com/office/drawing/2014/main" id="{993AE333-8181-7B4E-A36B-01F4F72B5AC8}"/>
                </a:ext>
              </a:extLst>
            </p:cNvPr>
            <p:cNvSpPr/>
            <p:nvPr/>
          </p:nvSpPr>
          <p:spPr bwMode="auto">
            <a:xfrm>
              <a:off x="-183051" y="33227554"/>
              <a:ext cx="5731474" cy="3039310"/>
            </a:xfrm>
            <a:prstGeom prst="wedgeRoundRectCallout">
              <a:avLst/>
            </a:prstGeom>
            <a:solidFill>
              <a:schemeClr val="bg1">
                <a:alpha val="81000"/>
              </a:schemeClr>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4" name="TextBox 13">
              <a:extLst>
                <a:ext uri="{FF2B5EF4-FFF2-40B4-BE49-F238E27FC236}">
                  <a16:creationId xmlns:a16="http://schemas.microsoft.com/office/drawing/2014/main" id="{BFE1391B-DFC1-8D43-9278-AEF2B02003B1}"/>
                </a:ext>
              </a:extLst>
            </p:cNvPr>
            <p:cNvSpPr txBox="1"/>
            <p:nvPr/>
          </p:nvSpPr>
          <p:spPr>
            <a:xfrm>
              <a:off x="29150" y="33394988"/>
              <a:ext cx="5307072" cy="2942795"/>
            </a:xfrm>
            <a:prstGeom prst="rect">
              <a:avLst/>
            </a:prstGeom>
            <a:grpFill/>
          </p:spPr>
          <p:txBody>
            <a:bodyPr wrap="square" rtlCol="0">
              <a:spAutoFit/>
            </a:bodyPr>
            <a:lstStyle/>
            <a:p>
              <a:r>
                <a:rPr lang="en-US" sz="1200" dirty="0">
                  <a:solidFill>
                    <a:srgbClr val="FF0000"/>
                  </a:solidFill>
                </a:rPr>
                <a:t>Edit the red bracketed text as appropriate with the applicable DOE office(s) and program office(s) that sponsored the work and/or add other funding as needed.  For non-EERE funding, see </a:t>
              </a:r>
              <a:r>
                <a:rPr lang="en-US" sz="1200" u="sng" dirty="0">
                  <a:solidFill>
                    <a:srgbClr val="FF0000"/>
                  </a:solidFill>
                  <a:hlinkClick r:id="rId4"/>
                </a:rPr>
                <a:t>https://thesource.nrel.gov/publishing/disclaimers.html</a:t>
              </a:r>
              <a:endParaRPr lang="en-US" sz="267" i="0" dirty="0">
                <a:solidFill>
                  <a:srgbClr val="FF0000"/>
                </a:solidFill>
              </a:endParaRPr>
            </a:p>
          </p:txBody>
        </p:sp>
      </p:grpSp>
    </p:spTree>
    <p:extLst>
      <p:ext uri="{BB962C8B-B14F-4D97-AF65-F5344CB8AC3E}">
        <p14:creationId xmlns:p14="http://schemas.microsoft.com/office/powerpoint/2010/main" val="40617798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1"/>
            <a:ext cx="5497435" cy="1600201"/>
          </a:xfrm>
          <a:prstGeom prst="rect">
            <a:avLst/>
          </a:prstGeom>
          <a:solidFill>
            <a:schemeClr val="accent1"/>
          </a:solidFill>
        </p:spPr>
        <p:txBody>
          <a:bodyPr vert="horz" lIns="91440" tIns="45720" rIns="91440" bIns="45720" rtlCol="0" anchor="ctr">
            <a:noAutofit/>
          </a:bodyPr>
          <a:lstStyle/>
          <a:p>
            <a:r>
              <a:rPr lang="en-US"/>
              <a:t>Click to edit Master </a:t>
            </a:r>
            <a:br>
              <a:rPr lang="en-US"/>
            </a:br>
            <a:r>
              <a:rPr lang="en-US"/>
              <a:t>title style</a:t>
            </a:r>
          </a:p>
        </p:txBody>
      </p:sp>
      <p:sp>
        <p:nvSpPr>
          <p:cNvPr id="3" name="Text Placeholder 2"/>
          <p:cNvSpPr>
            <a:spLocks noGrp="1"/>
          </p:cNvSpPr>
          <p:nvPr>
            <p:ph type="body" idx="1"/>
          </p:nvPr>
        </p:nvSpPr>
        <p:spPr>
          <a:xfrm>
            <a:off x="609600" y="1773689"/>
            <a:ext cx="10972800" cy="43524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65050688"/>
      </p:ext>
    </p:extLst>
  </p:cSld>
  <p:clrMap bg1="lt1" tx1="dk1" bg2="lt2" tx2="dk2" accent1="accent1" accent2="accent2" accent3="accent3" accent4="accent4" accent5="accent5" accent6="accent6" hlink="hlink" folHlink="folHlink"/>
  <p:sldLayoutIdLst>
    <p:sldLayoutId id="2147483662" r:id="rId1"/>
    <p:sldLayoutId id="2147483666" r:id="rId2"/>
    <p:sldLayoutId id="2147483667" r:id="rId3"/>
    <p:sldLayoutId id="2147483668" r:id="rId4"/>
    <p:sldLayoutId id="2147483671" r:id="rId5"/>
    <p:sldLayoutId id="2147483680" r:id="rId6"/>
    <p:sldLayoutId id="2147483681" r:id="rId7"/>
    <p:sldLayoutId id="2147483708" r:id="rId8"/>
    <p:sldLayoutId id="2147483709" r:id="rId9"/>
  </p:sldLayoutIdLst>
  <p:txStyles>
    <p:titleStyle>
      <a:lvl1pPr marL="0" algn="ctr" defTabSz="609585" rtl="0" eaLnBrk="1" latinLnBrk="0" hangingPunct="1">
        <a:lnSpc>
          <a:spcPts val="3733"/>
        </a:lnSpc>
        <a:spcBef>
          <a:spcPct val="0"/>
        </a:spcBef>
        <a:buNone/>
        <a:defRPr sz="4000" kern="1200" spc="0">
          <a:solidFill>
            <a:schemeClr val="bg1"/>
          </a:solidFill>
          <a:latin typeface="+mj-lt"/>
          <a:ea typeface="+mj-ea"/>
          <a:cs typeface="+mj-cs"/>
        </a:defRPr>
      </a:lvl1pPr>
    </p:titleStyle>
    <p:bodyStyle>
      <a:lvl1pPr marL="457189" indent="-457189" algn="l" defTabSz="609585" rtl="0" eaLnBrk="1" latinLnBrk="0" hangingPunct="1">
        <a:spcBef>
          <a:spcPct val="20000"/>
        </a:spcBef>
        <a:buFont typeface="Arial"/>
        <a:buChar char="•"/>
        <a:defRPr sz="3200"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200"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2933"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400"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base_0225_inf</a:t>
            </a:r>
          </a:p>
        </p:txBody>
      </p:sp>
      <p:sp>
        <p:nvSpPr>
          <p:cNvPr id="3" name="Text Placeholder 2"/>
          <p:cNvSpPr>
            <a:spLocks noGrp="1"/>
          </p:cNvSpPr>
          <p:nvPr>
            <p:ph type="body" idx="10" sz="quarter"/>
          </p:nvPr>
        </p:nvSpPr>
        <p:spPr/>
        <p:txBody>
          <a:bodyPr/>
          <a:lstStyle/>
          <a:p>
            <a:r>
              <a:t>1 US WTIV starting with CVOW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congested_0225_inf</a:t>
            </a:r>
          </a:p>
        </p:txBody>
      </p:sp>
      <p:sp>
        <p:nvSpPr>
          <p:cNvPr id="3" name="Text Placeholder 2"/>
          <p:cNvSpPr>
            <a:spLocks noGrp="1"/>
          </p:cNvSpPr>
          <p:nvPr>
            <p:ph type="body" idx="10" sz="quarter"/>
          </p:nvPr>
        </p:nvSpPr>
        <p:spPr/>
        <p:txBody>
          <a:bodyPr/>
          <a:lstStyle/>
          <a:p>
            <a:r>
              <a:t>No action with base pipeline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expanded_0225_inf</a:t>
            </a:r>
          </a:p>
        </p:txBody>
      </p:sp>
      <p:sp>
        <p:nvSpPr>
          <p:cNvPr id="3" name="Text Placeholder 2"/>
          <p:cNvSpPr>
            <a:spLocks noGrp="1"/>
          </p:cNvSpPr>
          <p:nvPr>
            <p:ph type="body" idx="10" sz="quarter"/>
          </p:nvPr>
        </p:nvSpPr>
        <p:spPr/>
        <p:txBody>
          <a:bodyPr/>
          <a:lstStyle/>
          <a:p>
            <a:r>
              <a:t>No action with base pipeline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reduced_0225_inf</a:t>
            </a:r>
          </a:p>
        </p:txBody>
      </p:sp>
      <p:sp>
        <p:nvSpPr>
          <p:cNvPr id="3" name="Text Placeholder 2"/>
          <p:cNvSpPr>
            <a:spLocks noGrp="1"/>
          </p:cNvSpPr>
          <p:nvPr>
            <p:ph type="body" idx="10" sz="quarter"/>
          </p:nvPr>
        </p:nvSpPr>
        <p:spPr/>
        <p:txBody>
          <a:bodyPr/>
          <a:lstStyle/>
          <a:p>
            <a:r>
              <a:t>No action with base pipeline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uniform_0225_inf</a:t>
            </a:r>
          </a:p>
        </p:txBody>
      </p:sp>
      <p:sp>
        <p:nvSpPr>
          <p:cNvPr id="3" name="Text Placeholder 2"/>
          <p:cNvSpPr>
            <a:spLocks noGrp="1"/>
          </p:cNvSpPr>
          <p:nvPr>
            <p:ph type="body" idx="10" sz="quarter"/>
          </p:nvPr>
        </p:nvSpPr>
        <p:spPr/>
        <p:txBody>
          <a:bodyPr/>
          <a:lstStyle/>
          <a:p>
            <a:r>
              <a:t>No action with base pipeline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Plots</a:t>
            </a:r>
          </a:p>
        </p:txBody>
      </p:sp>
      <p:sp>
        <p:nvSpPr>
          <p:cNvPr id="3" name="Text Placeholder 2"/>
          <p:cNvSpPr>
            <a:spLocks noGrp="1"/>
          </p:cNvSpPr>
          <p:nvPr>
            <p:ph type="body" idx="10" sz="quarter"/>
          </p:nvPr>
        </p:nvSpPr>
        <p:spPr/>
        <p:txBody>
          <a:bodyPr/>
          <a:lstStyle/>
          <a:p>
            <a:r>
              <a:t>Plots comparing runs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a:t>
            </a:r>
          </a:p>
        </p:txBody>
      </p:sp>
      <p:pic>
        <p:nvPicPr>
          <p:cNvPr id="3" name="Picture 2" descr="image.png"/>
          <p:cNvPicPr>
            <a:picLocks noChangeAspect="1"/>
          </p:cNvPicPr>
          <p:nvPr/>
        </p:nvPicPr>
        <p:blipFill>
          <a:blip r:embed="rId2"/>
          <a:stretch>
            <a:fillRect/>
          </a:stretch>
        </p:blipFill>
        <p:spPr>
          <a:xfrm>
            <a:off x="0" y="566928"/>
            <a:ext cx="12188952" cy="3515853"/>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Installed Cap</a:t>
            </a:r>
          </a:p>
        </p:txBody>
      </p:sp>
      <p:pic>
        <p:nvPicPr>
          <p:cNvPr id="3" name="Picture 2" descr="image.png"/>
          <p:cNvPicPr>
            <a:picLocks noChangeAspect="1"/>
          </p:cNvPicPr>
          <p:nvPr/>
        </p:nvPicPr>
        <p:blipFill>
          <a:blip r:embed="rId2"/>
          <a:stretch>
            <a:fillRect/>
          </a:stretch>
        </p:blipFill>
        <p:spPr>
          <a:xfrm>
            <a:off x="0" y="566928"/>
            <a:ext cx="12188952" cy="7661627"/>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Installed Cap T</a:t>
            </a:r>
          </a:p>
        </p:txBody>
      </p:sp>
      <p:pic>
        <p:nvPicPr>
          <p:cNvPr id="3" name="Picture 2" descr="image.png"/>
          <p:cNvPicPr>
            <a:picLocks noChangeAspect="1"/>
          </p:cNvPicPr>
          <p:nvPr/>
        </p:nvPicPr>
        <p:blipFill>
          <a:blip r:embed="rId2"/>
          <a:stretch>
            <a:fillRect/>
          </a:stretch>
        </p:blipFill>
        <p:spPr>
          <a:xfrm>
            <a:off x="0" y="566928"/>
            <a:ext cx="12188952" cy="8072457"/>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All Regions</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NE</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NY/NJ</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Central Atlantic</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MA</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ME</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CT</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RI</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NH</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RI/CT</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NY</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NJ</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NC</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MD</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VA</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DE</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Capacity by 2035 and 2040</a:t>
            </a:r>
          </a:p>
        </p:txBody>
      </p:sp>
      <p:pic>
        <p:nvPicPr>
          <p:cNvPr id="3" name="Picture 2" descr="image.png"/>
          <p:cNvPicPr>
            <a:picLocks noChangeAspect="1"/>
          </p:cNvPicPr>
          <p:nvPr/>
        </p:nvPicPr>
        <p:blipFill>
          <a:blip r:embed="rId2"/>
          <a:stretch>
            <a:fillRect/>
          </a:stretch>
        </p:blipFill>
        <p:spPr>
          <a:xfrm>
            <a:off x="0" y="566928"/>
            <a:ext cx="12188952" cy="4972974"/>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All Regions</a:t>
            </a:r>
          </a:p>
        </p:txBody>
      </p:sp>
      <p:pic>
        <p:nvPicPr>
          <p:cNvPr id="3" name="Picture 2" descr="image.png"/>
          <p:cNvPicPr>
            <a:picLocks noChangeAspect="1"/>
          </p:cNvPicPr>
          <p:nvPr/>
        </p:nvPicPr>
        <p:blipFill>
          <a:blip r:embed="rId2"/>
          <a:stretch>
            <a:fillRect/>
          </a:stretch>
        </p:blipFill>
        <p:spPr>
          <a:xfrm>
            <a:off x="0" y="566928"/>
            <a:ext cx="12188952" cy="7385112"/>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NE</a:t>
            </a:r>
          </a:p>
        </p:txBody>
      </p:sp>
      <p:pic>
        <p:nvPicPr>
          <p:cNvPr id="3" name="Picture 2" descr="image.png"/>
          <p:cNvPicPr>
            <a:picLocks noChangeAspect="1"/>
          </p:cNvPicPr>
          <p:nvPr/>
        </p:nvPicPr>
        <p:blipFill>
          <a:blip r:embed="rId2"/>
          <a:stretch>
            <a:fillRect/>
          </a:stretch>
        </p:blipFill>
        <p:spPr>
          <a:xfrm>
            <a:off x="0" y="566928"/>
            <a:ext cx="12188952" cy="7385112"/>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NY/NJ</a:t>
            </a:r>
          </a:p>
        </p:txBody>
      </p:sp>
      <p:pic>
        <p:nvPicPr>
          <p:cNvPr id="3" name="Picture 2" descr="image.png"/>
          <p:cNvPicPr>
            <a:picLocks noChangeAspect="1"/>
          </p:cNvPicPr>
          <p:nvPr/>
        </p:nvPicPr>
        <p:blipFill>
          <a:blip r:embed="rId2"/>
          <a:stretch>
            <a:fillRect/>
          </a:stretch>
        </p:blipFill>
        <p:spPr>
          <a:xfrm>
            <a:off x="0" y="566928"/>
            <a:ext cx="12188952" cy="7385112"/>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Mid-Atlantic</a:t>
            </a:r>
          </a:p>
        </p:txBody>
      </p:sp>
      <p:pic>
        <p:nvPicPr>
          <p:cNvPr id="3" name="Picture 2" descr="image.png"/>
          <p:cNvPicPr>
            <a:picLocks noChangeAspect="1"/>
          </p:cNvPicPr>
          <p:nvPr/>
        </p:nvPicPr>
        <p:blipFill>
          <a:blip r:embed="rId2"/>
          <a:stretch>
            <a:fillRect/>
          </a:stretch>
        </p:blipFill>
        <p:spPr>
          <a:xfrm>
            <a:off x="0" y="566928"/>
            <a:ext cx="12188952" cy="7385112"/>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All Regions</a:t>
            </a:r>
          </a:p>
        </p:txBody>
      </p:sp>
      <p:pic>
        <p:nvPicPr>
          <p:cNvPr id="3" name="Picture 2" descr="image.png"/>
          <p:cNvPicPr>
            <a:picLocks noChangeAspect="1"/>
          </p:cNvPicPr>
          <p:nvPr/>
        </p:nvPicPr>
        <p:blipFill>
          <a:blip r:embed="rId2"/>
          <a:stretch>
            <a:fillRect/>
          </a:stretch>
        </p:blipFill>
        <p:spPr>
          <a:xfrm>
            <a:off x="0" y="566928"/>
            <a:ext cx="12188952" cy="7385112"/>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NE</a:t>
            </a:r>
          </a:p>
        </p:txBody>
      </p:sp>
      <p:pic>
        <p:nvPicPr>
          <p:cNvPr id="3" name="Picture 2" descr="image.png"/>
          <p:cNvPicPr>
            <a:picLocks noChangeAspect="1"/>
          </p:cNvPicPr>
          <p:nvPr/>
        </p:nvPicPr>
        <p:blipFill>
          <a:blip r:embed="rId2"/>
          <a:stretch>
            <a:fillRect/>
          </a:stretch>
        </p:blipFill>
        <p:spPr>
          <a:xfrm>
            <a:off x="0" y="566928"/>
            <a:ext cx="12188952" cy="7385112"/>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NY/NJ</a:t>
            </a:r>
          </a:p>
        </p:txBody>
      </p:sp>
      <p:pic>
        <p:nvPicPr>
          <p:cNvPr id="3" name="Picture 2" descr="image.png"/>
          <p:cNvPicPr>
            <a:picLocks noChangeAspect="1"/>
          </p:cNvPicPr>
          <p:nvPr/>
        </p:nvPicPr>
        <p:blipFill>
          <a:blip r:embed="rId2"/>
          <a:stretch>
            <a:fillRect/>
          </a:stretch>
        </p:blipFill>
        <p:spPr>
          <a:xfrm>
            <a:off x="0" y="566928"/>
            <a:ext cx="12188952" cy="7385112"/>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Mid-Atlantic</a:t>
            </a:r>
          </a:p>
        </p:txBody>
      </p:sp>
      <p:pic>
        <p:nvPicPr>
          <p:cNvPr id="3" name="Picture 2" descr="image.png"/>
          <p:cNvPicPr>
            <a:picLocks noChangeAspect="1"/>
          </p:cNvPicPr>
          <p:nvPr/>
        </p:nvPicPr>
        <p:blipFill>
          <a:blip r:embed="rId2"/>
          <a:stretch>
            <a:fillRect/>
          </a:stretch>
        </p:blipFill>
        <p:spPr>
          <a:xfrm>
            <a:off x="0" y="566928"/>
            <a:ext cx="12188952" cy="7385112"/>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All Regions</a:t>
            </a:r>
          </a:p>
        </p:txBody>
      </p:sp>
      <p:pic>
        <p:nvPicPr>
          <p:cNvPr id="3" name="Picture 2" descr="image.png"/>
          <p:cNvPicPr>
            <a:picLocks noChangeAspect="1"/>
          </p:cNvPicPr>
          <p:nvPr/>
        </p:nvPicPr>
        <p:blipFill>
          <a:blip r:embed="rId2"/>
          <a:stretch>
            <a:fillRect/>
          </a:stretch>
        </p:blipFill>
        <p:spPr>
          <a:xfrm>
            <a:off x="0" y="566928"/>
            <a:ext cx="12188952" cy="3748044"/>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NE</a:t>
            </a:r>
          </a:p>
        </p:txBody>
      </p:sp>
      <p:pic>
        <p:nvPicPr>
          <p:cNvPr id="3" name="Picture 2" descr="image.png"/>
          <p:cNvPicPr>
            <a:picLocks noChangeAspect="1"/>
          </p:cNvPicPr>
          <p:nvPr/>
        </p:nvPicPr>
        <p:blipFill>
          <a:blip r:embed="rId2"/>
          <a:stretch>
            <a:fillRect/>
          </a:stretch>
        </p:blipFill>
        <p:spPr>
          <a:xfrm>
            <a:off x="0" y="566928"/>
            <a:ext cx="12188952" cy="3748044"/>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NY/NJ</a:t>
            </a:r>
          </a:p>
        </p:txBody>
      </p:sp>
      <p:pic>
        <p:nvPicPr>
          <p:cNvPr id="3" name="Picture 2" descr="image.png"/>
          <p:cNvPicPr>
            <a:picLocks noChangeAspect="1"/>
          </p:cNvPicPr>
          <p:nvPr/>
        </p:nvPicPr>
        <p:blipFill>
          <a:blip r:embed="rId2"/>
          <a:stretch>
            <a:fillRect/>
          </a:stretch>
        </p:blipFill>
        <p:spPr>
          <a:xfrm>
            <a:off x="0" y="566928"/>
            <a:ext cx="12188952" cy="3748044"/>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Mid-Atlantic</a:t>
            </a:r>
          </a:p>
        </p:txBody>
      </p:sp>
      <p:pic>
        <p:nvPicPr>
          <p:cNvPr id="3" name="Picture 2" descr="image.png"/>
          <p:cNvPicPr>
            <a:picLocks noChangeAspect="1"/>
          </p:cNvPicPr>
          <p:nvPr/>
        </p:nvPicPr>
        <p:blipFill>
          <a:blip r:embed="rId2"/>
          <a:stretch>
            <a:fillRect/>
          </a:stretch>
        </p:blipFill>
        <p:spPr>
          <a:xfrm>
            <a:off x="0" y="566928"/>
            <a:ext cx="12188952" cy="3748044"/>
          </a:xfrm>
          <a:prstGeom prst="rect">
            <a:avLst/>
          </a:prstGeom>
        </p:spPr>
      </p:pic>
    </p:spTree>
  </p:cSld>
  <p:clrMapOvr>
    <a:masterClrMapping/>
  </p:clrMapOvr>
</p:sld>
</file>

<file path=ppt/theme/theme1.xml><?xml version="1.0" encoding="utf-8"?>
<a:theme xmlns:a="http://schemas.openxmlformats.org/drawingml/2006/main" name="NREL2020_PB">
  <a:themeElements>
    <a:clrScheme name="Custom 10">
      <a:dk1>
        <a:srgbClr val="333333"/>
      </a:dk1>
      <a:lt1>
        <a:srgbClr val="FFFFFF"/>
      </a:lt1>
      <a:dk2>
        <a:srgbClr val="FFC425"/>
      </a:dk2>
      <a:lt2>
        <a:srgbClr val="8DC63F"/>
      </a:lt2>
      <a:accent1>
        <a:srgbClr val="0079C1"/>
      </a:accent1>
      <a:accent2>
        <a:srgbClr val="00A4E4"/>
      </a:accent2>
      <a:accent3>
        <a:srgbClr val="F6A01A"/>
      </a:accent3>
      <a:accent4>
        <a:srgbClr val="5E9732"/>
      </a:accent4>
      <a:accent5>
        <a:srgbClr val="933C06"/>
      </a:accent5>
      <a:accent6>
        <a:srgbClr val="6A737B"/>
      </a:accent6>
      <a:hlink>
        <a:srgbClr val="0079C1"/>
      </a:hlink>
      <a:folHlink>
        <a:srgbClr val="00A4E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9050">
          <a:solidFill>
            <a:schemeClr val="tx1"/>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REL2020_PB" id="{59B7B764-909F-8B4E-B7C2-319FB31B2FD1}" vid="{0B8A4839-CA57-2140-9584-A22480C22A59}"/>
    </a:ext>
  </a:extLst>
</a:theme>
</file>

<file path=docProps/app.xml><?xml version="1.0" encoding="utf-8"?>
<Properties xmlns="http://schemas.openxmlformats.org/officeDocument/2006/extended-properties" xmlns:vt="http://schemas.openxmlformats.org/officeDocument/2006/docPropsVTypes">
  <Template>NREL2020_PB</Template>
  <TotalTime>5</TotalTime>
  <Words>0</Words>
  <Application>Microsoft Macintosh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0</vt:i4>
      </vt:variant>
    </vt:vector>
  </HeadingPairs>
  <TitlesOfParts>
    <vt:vector size="3" baseType="lpstr">
      <vt:lpstr>Arial</vt:lpstr>
      <vt:lpstr>Calibri</vt:lpstr>
      <vt:lpstr>NREL2020_PB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Brown, Patrick</dc:creator>
  <cp:lastModifiedBy>Brown, Patrick</cp:lastModifiedBy>
  <cp:revision>7</cp:revision>
  <dcterms:created xsi:type="dcterms:W3CDTF">2022-11-16T03:22:30Z</dcterms:created>
  <dcterms:modified xsi:type="dcterms:W3CDTF">2023-04-26T15:40:03Z</dcterms:modified>
</cp:coreProperties>
</file>