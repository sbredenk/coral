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5"/>
    <p:restoredTop sz="96208"/>
  </p:normalViewPr>
  <p:slideViewPr>
    <p:cSldViewPr snapToGrid="0">
      <p:cViewPr varScale="1">
        <p:scale>
          <a:sx n="119" d="100"/>
          <a:sy n="119" d="100"/>
        </p:scale>
        <p:origin x="21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hyperlink" Target="https://thesource.nrel.gov/publishing/disclaimers.html"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230101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118740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57351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568959"/>
          </a:xfrm>
        </p:spPr>
        <p:txBody>
          <a:bodyPr/>
          <a:lstStyle/>
          <a:p>
            <a:r>
              <a:rPr lang="en-US"/>
              <a:t>Simple Slide</a:t>
            </a:r>
          </a:p>
        </p:txBody>
      </p:sp>
      <p:sp>
        <p:nvSpPr>
          <p:cNvPr id="5" name="TextBox 4"/>
          <p:cNvSpPr txBox="1"/>
          <p:nvPr/>
        </p:nvSpPr>
        <p:spPr>
          <a:xfrm>
            <a:off x="11592074" y="0"/>
            <a:ext cx="599925" cy="307777"/>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fld id="{BFD71CF8-5198-8441-A7C0-DC22FD64CBE4}" type="slidenum">
              <a:rPr lang="en-US" sz="1400" smtClean="0"/>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400" dirty="0"/>
          </a:p>
        </p:txBody>
      </p:sp>
    </p:spTree>
    <p:extLst>
      <p:ext uri="{BB962C8B-B14F-4D97-AF65-F5344CB8AC3E}">
        <p14:creationId xmlns:p14="http://schemas.microsoft.com/office/powerpoint/2010/main" val="3787811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396317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354222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ransition Slide - Blue">
    <p:spTree>
      <p:nvGrpSpPr>
        <p:cNvPr id="1" name=""/>
        <p:cNvGrpSpPr/>
        <p:nvPr/>
      </p:nvGrpSpPr>
      <p:grpSpPr>
        <a:xfrm>
          <a:off x="0" y="0"/>
          <a:ext cx="0" cy="0"/>
          <a:chOff x="0" y="0"/>
          <a:chExt cx="0" cy="0"/>
        </a:xfrm>
      </p:grpSpPr>
      <p:sp>
        <p:nvSpPr>
          <p:cNvPr id="6" name="Rectangle 5"/>
          <p:cNvSpPr/>
          <p:nvPr/>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667"/>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282079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900022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667"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p:nvSpPr>
        <p:spPr>
          <a:xfrm>
            <a:off x="143727" y="5113983"/>
            <a:ext cx="7440927" cy="1938992"/>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p:nvGrpSpPr>
        <p:grpSpPr>
          <a:xfrm>
            <a:off x="1547053" y="3897792"/>
            <a:ext cx="1601320" cy="1290884"/>
            <a:chOff x="2576623" y="33912667"/>
            <a:chExt cx="2971800" cy="2395679"/>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2112672"/>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p:nvGrpSpPr>
        <p:grpSpPr>
          <a:xfrm>
            <a:off x="4551699" y="3781040"/>
            <a:ext cx="3088339" cy="1658968"/>
            <a:chOff x="-183051" y="33227554"/>
            <a:chExt cx="5731474" cy="3110229"/>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942795"/>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4061779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65050688"/>
      </p:ext>
    </p:extLst>
  </p:cSld>
  <p:clrMap bg1="lt1" tx1="dk1" bg2="lt2" tx2="dk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71" r:id="rId5"/>
    <p:sldLayoutId id="2147483680" r:id="rId6"/>
    <p:sldLayoutId id="2147483681" r:id="rId7"/>
    <p:sldLayoutId id="2147483708" r:id="rId8"/>
    <p:sldLayoutId id="2147483709" r:id="rId9"/>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174965"/>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 Throughput</a:t>
            </a:r>
          </a:p>
        </p:txBody>
      </p:sp>
      <p:pic>
        <p:nvPicPr>
          <p:cNvPr id="3" name="Picture 2" descr="image.png"/>
          <p:cNvPicPr>
            <a:picLocks noChangeAspect="1"/>
          </p:cNvPicPr>
          <p:nvPr/>
        </p:nvPicPr>
        <p:blipFill>
          <a:blip r:embed="rId2"/>
          <a:stretch>
            <a:fillRect/>
          </a:stretch>
        </p:blipFill>
        <p:spPr>
          <a:xfrm>
            <a:off x="0" y="566928"/>
            <a:ext cx="12188952" cy="822839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Plots</a:t>
            </a:r>
          </a:p>
        </p:txBody>
      </p:sp>
      <p:sp>
        <p:nvSpPr>
          <p:cNvPr id="3" name="Text Placeholder 2"/>
          <p:cNvSpPr>
            <a:spLocks noGrp="1"/>
          </p:cNvSpPr>
          <p:nvPr>
            <p:ph type="body" idx="10" sz="quarter"/>
          </p:nvPr>
        </p:nvSpPr>
        <p:spPr/>
        <p:txBody>
          <a:bodyPr/>
          <a:lstStyle/>
          <a:p>
            <a:r>
              <a:t>Plots comparing runs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a:t>
            </a:r>
          </a:p>
        </p:txBody>
      </p:sp>
      <p:pic>
        <p:nvPicPr>
          <p:cNvPr id="3" name="Picture 2" descr="image.png"/>
          <p:cNvPicPr>
            <a:picLocks noChangeAspect="1"/>
          </p:cNvPicPr>
          <p:nvPr/>
        </p:nvPicPr>
        <p:blipFill>
          <a:blip r:embed="rId2"/>
          <a:stretch>
            <a:fillRect/>
          </a:stretch>
        </p:blipFill>
        <p:spPr>
          <a:xfrm>
            <a:off x="0" y="566928"/>
            <a:ext cx="12188952" cy="3540648"/>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a:t>
            </a:r>
          </a:p>
        </p:txBody>
      </p:sp>
      <p:pic>
        <p:nvPicPr>
          <p:cNvPr id="3" name="Picture 2" descr="image.png"/>
          <p:cNvPicPr>
            <a:picLocks noChangeAspect="1"/>
          </p:cNvPicPr>
          <p:nvPr/>
        </p:nvPicPr>
        <p:blipFill>
          <a:blip r:embed="rId2"/>
          <a:stretch>
            <a:fillRect/>
          </a:stretch>
        </p:blipFill>
        <p:spPr>
          <a:xfrm>
            <a:off x="0" y="566928"/>
            <a:ext cx="12188952" cy="702211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Installed Cap T</a:t>
            </a:r>
          </a:p>
        </p:txBody>
      </p:sp>
      <p:pic>
        <p:nvPicPr>
          <p:cNvPr id="3" name="Picture 2" descr="image.png"/>
          <p:cNvPicPr>
            <a:picLocks noChangeAspect="1"/>
          </p:cNvPicPr>
          <p:nvPr/>
        </p:nvPicPr>
        <p:blipFill>
          <a:blip r:embed="rId2"/>
          <a:stretch>
            <a:fillRect/>
          </a:stretch>
        </p:blipFill>
        <p:spPr>
          <a:xfrm>
            <a:off x="0" y="566928"/>
            <a:ext cx="12188952" cy="8072457"/>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All Regions</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NY/NJ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Installed Capacity - Central Atlantic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NH</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RI/CT</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NY</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NJ</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NC</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MD</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VA</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Installed Capacity - DE</a:t>
            </a:r>
          </a:p>
        </p:txBody>
      </p:sp>
      <p:pic>
        <p:nvPicPr>
          <p:cNvPr id="3" name="Picture 2" descr="image.png"/>
          <p:cNvPicPr>
            <a:picLocks noChangeAspect="1"/>
          </p:cNvPicPr>
          <p:nvPr/>
        </p:nvPicPr>
        <p:blipFill>
          <a:blip r:embed="rId2"/>
          <a:stretch>
            <a:fillRect/>
          </a:stretch>
        </p:blipFill>
        <p:spPr>
          <a:xfrm>
            <a:off x="0" y="566928"/>
            <a:ext cx="12188952" cy="5062776"/>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Cumulative Capacity by 2035 and 2040</a:t>
            </a:r>
          </a:p>
        </p:txBody>
      </p:sp>
      <p:pic>
        <p:nvPicPr>
          <p:cNvPr id="3" name="Picture 2" descr="image.png"/>
          <p:cNvPicPr>
            <a:picLocks noChangeAspect="1"/>
          </p:cNvPicPr>
          <p:nvPr/>
        </p:nvPicPr>
        <p:blipFill>
          <a:blip r:embed="rId2"/>
          <a:stretch>
            <a:fillRect/>
          </a:stretch>
        </p:blipFill>
        <p:spPr>
          <a:xfrm>
            <a:off x="0" y="566928"/>
            <a:ext cx="12188952" cy="46502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All Regions</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NE</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NY/NJ</a:t>
            </a:r>
          </a:p>
        </p:txBody>
      </p:sp>
      <p:pic>
        <p:nvPicPr>
          <p:cNvPr id="3" name="Picture 2" descr="image.png"/>
          <p:cNvPicPr>
            <a:picLocks noChangeAspect="1"/>
          </p:cNvPicPr>
          <p:nvPr/>
        </p:nvPicPr>
        <p:blipFill>
          <a:blip r:embed="rId2"/>
          <a:stretch>
            <a:fillRect/>
          </a:stretch>
        </p:blipFill>
        <p:spPr>
          <a:xfrm>
            <a:off x="0" y="566928"/>
            <a:ext cx="12188952" cy="7169972"/>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Per Project by COD - Mid-Atlantic</a:t>
            </a:r>
          </a:p>
        </p:txBody>
      </p:sp>
      <p:pic>
        <p:nvPicPr>
          <p:cNvPr id="3" name="Picture 2" descr="image.png"/>
          <p:cNvPicPr>
            <a:picLocks noChangeAspect="1"/>
          </p:cNvPicPr>
          <p:nvPr/>
        </p:nvPicPr>
        <p:blipFill>
          <a:blip r:embed="rId2"/>
          <a:stretch>
            <a:fillRect/>
          </a:stretch>
        </p:blipFill>
        <p:spPr>
          <a:xfrm>
            <a:off x="0" y="566928"/>
            <a:ext cx="12188952" cy="7351177"/>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All Regions</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NE</a:t>
            </a:r>
          </a:p>
        </p:txBody>
      </p:sp>
      <p:pic>
        <p:nvPicPr>
          <p:cNvPr id="3" name="Picture 2" descr="image.png"/>
          <p:cNvPicPr>
            <a:picLocks noChangeAspect="1"/>
          </p:cNvPicPr>
          <p:nvPr/>
        </p:nvPicPr>
        <p:blipFill>
          <a:blip r:embed="rId2"/>
          <a:stretch>
            <a:fillRect/>
          </a:stretch>
        </p:blipFill>
        <p:spPr>
          <a:xfrm>
            <a:off x="0" y="566928"/>
            <a:ext cx="12188952" cy="7351177"/>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NY/NJ</a:t>
            </a:r>
          </a:p>
        </p:txBody>
      </p:sp>
      <p:pic>
        <p:nvPicPr>
          <p:cNvPr id="3" name="Picture 2" descr="image.png"/>
          <p:cNvPicPr>
            <a:picLocks noChangeAspect="1"/>
          </p:cNvPicPr>
          <p:nvPr/>
        </p:nvPicPr>
        <p:blipFill>
          <a:blip r:embed="rId2"/>
          <a:stretch>
            <a:fillRect/>
          </a:stretch>
        </p:blipFill>
        <p:spPr>
          <a:xfrm>
            <a:off x="0" y="566928"/>
            <a:ext cx="12188952" cy="7275952"/>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Total Capacity at Risk by COD - Mid-Atlantic</a:t>
            </a:r>
          </a:p>
        </p:txBody>
      </p:sp>
      <p:pic>
        <p:nvPicPr>
          <p:cNvPr id="3" name="Picture 2" descr="image.png"/>
          <p:cNvPicPr>
            <a:picLocks noChangeAspect="1"/>
          </p:cNvPicPr>
          <p:nvPr/>
        </p:nvPicPr>
        <p:blipFill>
          <a:blip r:embed="rId2"/>
          <a:stretch>
            <a:fillRect/>
          </a:stretch>
        </p:blipFill>
        <p:spPr>
          <a:xfrm>
            <a:off x="0" y="566928"/>
            <a:ext cx="12188952" cy="7358178"/>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All Regions</a:t>
            </a:r>
          </a:p>
        </p:txBody>
      </p:sp>
      <p:pic>
        <p:nvPicPr>
          <p:cNvPr id="3" name="Picture 2" descr="image.png"/>
          <p:cNvPicPr>
            <a:picLocks noChangeAspect="1"/>
          </p:cNvPicPr>
          <p:nvPr/>
        </p:nvPicPr>
        <p:blipFill>
          <a:blip r:embed="rId2"/>
          <a:stretch>
            <a:fillRect/>
          </a:stretch>
        </p:blipFill>
        <p:spPr>
          <a:xfrm>
            <a:off x="0" y="566928"/>
            <a:ext cx="12188952" cy="13186373"/>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NE</a:t>
            </a:r>
          </a:p>
        </p:txBody>
      </p:sp>
      <p:pic>
        <p:nvPicPr>
          <p:cNvPr id="3" name="Picture 2" descr="image.png"/>
          <p:cNvPicPr>
            <a:picLocks noChangeAspect="1"/>
          </p:cNvPicPr>
          <p:nvPr/>
        </p:nvPicPr>
        <p:blipFill>
          <a:blip r:embed="rId2"/>
          <a:stretch>
            <a:fillRect/>
          </a:stretch>
        </p:blipFill>
        <p:spPr>
          <a:xfrm>
            <a:off x="0" y="566928"/>
            <a:ext cx="12188952" cy="13186373"/>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NY/NJ</a:t>
            </a:r>
          </a:p>
        </p:txBody>
      </p:sp>
      <p:pic>
        <p:nvPicPr>
          <p:cNvPr id="3" name="Picture 2" descr="image.png"/>
          <p:cNvPicPr>
            <a:picLocks noChangeAspect="1"/>
          </p:cNvPicPr>
          <p:nvPr/>
        </p:nvPicPr>
        <p:blipFill>
          <a:blip r:embed="rId2"/>
          <a:stretch>
            <a:fillRect/>
          </a:stretch>
        </p:blipFill>
        <p:spPr>
          <a:xfrm>
            <a:off x="0" y="566928"/>
            <a:ext cx="12188952" cy="13186373"/>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Average Delay Heat Map - Mid-Atlantic</a:t>
            </a:r>
          </a:p>
        </p:txBody>
      </p:sp>
      <p:pic>
        <p:nvPicPr>
          <p:cNvPr id="3" name="Picture 2" descr="image.png"/>
          <p:cNvPicPr>
            <a:picLocks noChangeAspect="1"/>
          </p:cNvPicPr>
          <p:nvPr/>
        </p:nvPicPr>
        <p:blipFill>
          <a:blip r:embed="rId2"/>
          <a:stretch>
            <a:fillRect/>
          </a:stretch>
        </p:blipFill>
        <p:spPr>
          <a:xfrm>
            <a:off x="0" y="566928"/>
            <a:ext cx="12188952" cy="13186373"/>
          </a:xfrm>
          <a:prstGeom prst="rect">
            <a:avLst/>
          </a:prstGeom>
        </p:spPr>
      </p:pic>
    </p:spTree>
  </p:cSld>
  <p:clrMapOvr>
    <a:masterClrMapping/>
  </p:clrMapOvr>
</p:sld>
</file>

<file path=ppt/theme/theme1.xml><?xml version="1.0" encoding="utf-8"?>
<a:theme xmlns:a="http://schemas.openxmlformats.org/drawingml/2006/main" name="NREL2020_PB">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tx1"/>
          </a:solid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REL2020_PB" id="{59B7B764-909F-8B4E-B7C2-319FB31B2FD1}" vid="{0B8A4839-CA57-2140-9584-A22480C22A59}"/>
    </a:ext>
  </a:extLst>
</a:theme>
</file>

<file path=docProps/app.xml><?xml version="1.0" encoding="utf-8"?>
<Properties xmlns="http://schemas.openxmlformats.org/officeDocument/2006/extended-properties" xmlns:vt="http://schemas.openxmlformats.org/officeDocument/2006/docPropsVTypes">
  <Template>NREL2020_PB</Template>
  <TotalTime>5</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0</vt:i4>
      </vt:variant>
    </vt:vector>
  </HeadingPairs>
  <TitlesOfParts>
    <vt:vector size="3" baseType="lpstr">
      <vt:lpstr>Arial</vt:lpstr>
      <vt:lpstr>Calibri</vt:lpstr>
      <vt:lpstr>NREL2020_PB</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Brown, Patrick</dc:creator>
  <cp:lastModifiedBy>Brown, Patrick</cp:lastModifiedBy>
  <cp:revision>7</cp:revision>
  <dcterms:created xsi:type="dcterms:W3CDTF">2022-11-16T03:22:30Z</dcterms:created>
  <dcterms:modified xsi:type="dcterms:W3CDTF">2023-04-26T15:40:03Z</dcterms:modified>
</cp:coreProperties>
</file>